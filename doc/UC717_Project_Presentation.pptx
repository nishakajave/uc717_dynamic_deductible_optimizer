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pat Kajave, Nisha" userId="8b70f1dc-13a9-4a73-885c-7d8a2feb6e30" providerId="ADAL" clId="{A50039AD-4EEB-43B9-BF9F-515411D73DC2}"/>
    <pc:docChg chg="custSel modSld">
      <pc:chgData name="Shripat Kajave, Nisha" userId="8b70f1dc-13a9-4a73-885c-7d8a2feb6e30" providerId="ADAL" clId="{A50039AD-4EEB-43B9-BF9F-515411D73DC2}" dt="2026-09-18T08:51:12.406" v="2" actId="478"/>
      <pc:docMkLst>
        <pc:docMk/>
      </pc:docMkLst>
      <pc:sldChg chg="delSp mod">
        <pc:chgData name="Shripat Kajave, Nisha" userId="8b70f1dc-13a9-4a73-885c-7d8a2feb6e30" providerId="ADAL" clId="{A50039AD-4EEB-43B9-BF9F-515411D73DC2}" dt="2026-09-18T08:50:59.968" v="1" actId="21"/>
        <pc:sldMkLst>
          <pc:docMk/>
          <pc:sldMk cId="0" sldId="256"/>
        </pc:sldMkLst>
        <pc:spChg chg="del">
          <ac:chgData name="Shripat Kajave, Nisha" userId="8b70f1dc-13a9-4a73-885c-7d8a2feb6e30" providerId="ADAL" clId="{A50039AD-4EEB-43B9-BF9F-515411D73DC2}" dt="2026-09-18T08:50:59.968" v="1" actId="21"/>
          <ac:spMkLst>
            <pc:docMk/>
            <pc:sldMk cId="0" sldId="256"/>
            <ac:spMk id="11" creationId="{00000000-0000-0000-0000-000000000000}"/>
          </ac:spMkLst>
        </pc:spChg>
      </pc:sldChg>
      <pc:sldChg chg="delSp mod">
        <pc:chgData name="Shripat Kajave, Nisha" userId="8b70f1dc-13a9-4a73-885c-7d8a2feb6e30" providerId="ADAL" clId="{A50039AD-4EEB-43B9-BF9F-515411D73DC2}" dt="2026-09-18T08:50:50.651" v="0" actId="478"/>
        <pc:sldMkLst>
          <pc:docMk/>
          <pc:sldMk cId="0" sldId="257"/>
        </pc:sldMkLst>
        <pc:spChg chg="del">
          <ac:chgData name="Shripat Kajave, Nisha" userId="8b70f1dc-13a9-4a73-885c-7d8a2feb6e30" providerId="ADAL" clId="{A50039AD-4EEB-43B9-BF9F-515411D73DC2}" dt="2026-09-18T08:50:50.651" v="0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Shripat Kajave, Nisha" userId="8b70f1dc-13a9-4a73-885c-7d8a2feb6e30" providerId="ADAL" clId="{A50039AD-4EEB-43B9-BF9F-515411D73DC2}" dt="2026-09-18T08:50:50.651" v="0" actId="478"/>
          <ac:spMkLst>
            <pc:docMk/>
            <pc:sldMk cId="0" sldId="257"/>
            <ac:spMk id="18" creationId="{00000000-0000-0000-0000-000000000000}"/>
          </ac:spMkLst>
        </pc:spChg>
      </pc:sldChg>
      <pc:sldChg chg="delSp mod">
        <pc:chgData name="Shripat Kajave, Nisha" userId="8b70f1dc-13a9-4a73-885c-7d8a2feb6e30" providerId="ADAL" clId="{A50039AD-4EEB-43B9-BF9F-515411D73DC2}" dt="2026-09-18T08:51:12.406" v="2" actId="478"/>
        <pc:sldMkLst>
          <pc:docMk/>
          <pc:sldMk cId="0" sldId="259"/>
        </pc:sldMkLst>
        <pc:spChg chg="del">
          <ac:chgData name="Shripat Kajave, Nisha" userId="8b70f1dc-13a9-4a73-885c-7d8a2feb6e30" providerId="ADAL" clId="{A50039AD-4EEB-43B9-BF9F-515411D73DC2}" dt="2026-09-18T08:51:12.406" v="2" actId="478"/>
          <ac:spMkLst>
            <pc:docMk/>
            <pc:sldMk cId="0" sldId="259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82B57"/>
                </a:solidFill>
              </a:rPr>
              <a:t>Dynamic Deductible Optimizer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241280" y="4754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B"/>
                </a:solidFill>
              </a:rPr>
              <a:t>UC717  |  1/4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27080" cy="4983480"/>
          </a:xfrm>
          <a:prstGeom prst="roundRect">
            <a:avLst/>
          </a:prstGeom>
          <a:solidFill>
            <a:srgbClr val="082B57"/>
          </a:solidFill>
          <a:ln w="12700">
            <a:solidFill>
              <a:srgbClr val="082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41080" y="2057400"/>
            <a:ext cx="1645920" cy="1965960"/>
          </a:xfrm>
          <a:prstGeom prst="hexagon">
            <a:avLst/>
          </a:prstGeom>
          <a:solidFill>
            <a:srgbClr val="FFFFFF"/>
          </a:solidFill>
          <a:ln w="38100">
            <a:solidFill>
              <a:srgbClr val="15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755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60" dirty="0">
                <a:solidFill>
                  <a:srgbClr val="83B7FF"/>
                </a:solidFill>
              </a:rPr>
              <a:t>UC717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2221992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SmartDeduct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CEBFF"/>
                </a:solidFill>
              </a:rPr>
              <a:t>A local, explainable insurance decision-support prototype that recommends a suitable deductible by balancing premium savings, affordability and claim-time risk.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49103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DDE8"/>
                </a:solidFill>
              </a:rPr>
              <a:t>Python  |  Flask  |  Bootstrap  |  Pandas  |  Chart.js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82B57"/>
                </a:solidFill>
              </a:rPr>
              <a:t>Problem, Objective and Business Value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241280" y="4754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B"/>
                </a:solidFill>
              </a:rPr>
              <a:t>UC717  |  2/4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371600"/>
            <a:ext cx="384048" cy="38404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947672"/>
            <a:ext cx="2880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Customers may not understand how deductibles affect annual premium.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A high deductible may be unaffordable during a claim.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A low deductible may result in unnecessary premium cost.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1371600"/>
            <a:ext cx="384048" cy="384048"/>
          </a:xfrm>
          <a:prstGeom prst="ellipse">
            <a:avLst/>
          </a:prstGeom>
          <a:solidFill>
            <a:srgbClr val="15AABF"/>
          </a:solidFill>
          <a:ln w="12700">
            <a:solidFill>
              <a:srgbClr val="15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Objective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1947672"/>
            <a:ext cx="2880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Use customer income, expenses and emergency savings.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Consider premium, expected claims and average claim amount.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Compare only options matching the insurance type.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34290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66760" y="1371600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869680" y="1344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Business Value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1947672"/>
            <a:ext cx="2880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Faster and consistent option comparison.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Transparent recommendation reasons.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Improved advisor and customer experience.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Working demo without API blockers.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82B57"/>
                </a:solidFill>
              </a:rPr>
              <a:t>Prototype Workflow and Key Features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241280" y="4754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B"/>
                </a:solidFill>
              </a:rPr>
              <a:t>UC717  |  3/4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60704" y="987552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60704" y="1078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04A"/>
                </a:solidFill>
              </a:rPr>
              <a:t>Load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48840" y="1417320"/>
            <a:ext cx="228600" cy="320040"/>
          </a:xfrm>
          <a:prstGeom prst="chevron">
            <a:avLst/>
          </a:prstGeom>
          <a:solidFill>
            <a:srgbClr val="9FB7D5"/>
          </a:solidFill>
          <a:ln w="12700">
            <a:solidFill>
              <a:srgbClr val="9FB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41448" y="118872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99232" y="987552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99232" y="1078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04A"/>
                </a:solidFill>
              </a:rPr>
              <a:t>Validate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87368" y="1417320"/>
            <a:ext cx="228600" cy="320040"/>
          </a:xfrm>
          <a:prstGeom prst="chevron">
            <a:avLst/>
          </a:prstGeom>
          <a:solidFill>
            <a:srgbClr val="9FB7D5"/>
          </a:solidFill>
          <a:ln w="12700">
            <a:solidFill>
              <a:srgbClr val="9FB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79976" y="118872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987552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1078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17136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04A"/>
                </a:solidFill>
              </a:rPr>
              <a:t>Select Customer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25896" y="1417320"/>
            <a:ext cx="228600" cy="320040"/>
          </a:xfrm>
          <a:prstGeom prst="chevron">
            <a:avLst/>
          </a:prstGeom>
          <a:solidFill>
            <a:srgbClr val="9FB7D5"/>
          </a:solidFill>
          <a:ln w="12700">
            <a:solidFill>
              <a:srgbClr val="9FB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18504" y="118872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76288" y="987552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76288" y="1078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04A"/>
                </a:solidFill>
              </a:rPr>
              <a:t>Match Options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64424" y="1417320"/>
            <a:ext cx="228600" cy="320040"/>
          </a:xfrm>
          <a:prstGeom prst="chevron">
            <a:avLst/>
          </a:prstGeom>
          <a:solidFill>
            <a:srgbClr val="9FB7D5"/>
          </a:solidFill>
          <a:ln w="12700">
            <a:solidFill>
              <a:srgbClr val="9FB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57032" y="118872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814816" y="987552"/>
            <a:ext cx="475488" cy="47548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14816" y="1078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94192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04A"/>
                </a:solidFill>
              </a:rPr>
              <a:t>Analyze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902952" y="1417320"/>
            <a:ext cx="228600" cy="320040"/>
          </a:xfrm>
          <a:prstGeom prst="chevron">
            <a:avLst/>
          </a:prstGeom>
          <a:solidFill>
            <a:srgbClr val="9FB7D5"/>
          </a:solidFill>
          <a:ln w="12700">
            <a:solidFill>
              <a:srgbClr val="9FB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195560" y="1188720"/>
            <a:ext cx="1600200" cy="960120"/>
          </a:xfrm>
          <a:prstGeom prst="roundRect">
            <a:avLst/>
          </a:prstGeom>
          <a:solidFill>
            <a:srgbClr val="E8F7EF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753344" y="987552"/>
            <a:ext cx="475488" cy="47548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753344" y="1078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332720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304A"/>
                </a:solidFill>
              </a:rPr>
              <a:t>Download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" y="278892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0120" y="3017520"/>
            <a:ext cx="384048" cy="38404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6304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Data Experience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05840" y="3593592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Preloaded customer and deductible data.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External CSV or XLSX upload.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Downloadable file templates.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Validation errors and fallback behavior.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89120" y="278892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17720" y="3017520"/>
            <a:ext cx="384048" cy="384048"/>
          </a:xfrm>
          <a:prstGeom prst="ellipse">
            <a:avLst/>
          </a:prstGeom>
          <a:solidFill>
            <a:srgbClr val="15AABF"/>
          </a:solidFill>
          <a:ln w="12700">
            <a:solidFill>
              <a:srgbClr val="15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2064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Decision Logic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663440" y="3593592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Insurance-specific option matching.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Affordability and expected annual cost.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Risk preference adjustment.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Ranked suitability score.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046720" y="2788920"/>
            <a:ext cx="3429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275320" y="3017520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778240" y="29900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User Experience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321040" y="3593592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Responsive Bootstrap website.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Customer ID and name selection.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Metric cards, table and chart.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Downloadable analysis CSV.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82B57"/>
                </a:solidFill>
              </a:rPr>
              <a:t>Architecture, Technology and Roadmap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241280" y="4754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5758B"/>
                </a:solidFill>
              </a:rPr>
              <a:t>UC717  |  4/4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78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2B57"/>
                </a:solidFill>
              </a:rPr>
              <a:t>Current-state prototype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922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6EFD"/>
                </a:solidFill>
              </a:rPr>
              <a:t>Browser 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396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B"/>
                </a:solidFill>
              </a:rPr>
              <a:t>Bootstrap + JavaScript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26664" y="1892808"/>
            <a:ext cx="228600" cy="320040"/>
          </a:xfrm>
          <a:prstGeom prst="chevron">
            <a:avLst/>
          </a:prstGeom>
          <a:solidFill>
            <a:srgbClr val="8FAED4"/>
          </a:solidFill>
          <a:ln w="12700">
            <a:solidFill>
              <a:srgbClr val="8FA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56432" y="160020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3592" y="17922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6EFD"/>
                </a:solidFill>
              </a:rPr>
              <a:t>Flask Server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93592" y="21396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B"/>
                </a:solidFill>
              </a:rPr>
              <a:t>Validation + endpoints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88736" y="1892808"/>
            <a:ext cx="228600" cy="320040"/>
          </a:xfrm>
          <a:prstGeom prst="chevron">
            <a:avLst/>
          </a:prstGeom>
          <a:solidFill>
            <a:srgbClr val="8FAED4"/>
          </a:solidFill>
          <a:ln w="12700">
            <a:solidFill>
              <a:srgbClr val="8FA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18504" y="160020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55664" y="17922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6EFD"/>
                </a:solidFill>
              </a:rPr>
              <a:t>Pandas Engine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55664" y="21396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B"/>
                </a:solidFill>
              </a:rPr>
              <a:t>Scoring + ranking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50808" y="1892808"/>
            <a:ext cx="228600" cy="320040"/>
          </a:xfrm>
          <a:prstGeom prst="chevron">
            <a:avLst/>
          </a:prstGeom>
          <a:solidFill>
            <a:srgbClr val="8FAED4"/>
          </a:solidFill>
          <a:ln w="12700">
            <a:solidFill>
              <a:srgbClr val="8FA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80576" y="1600200"/>
            <a:ext cx="2331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17736" y="17922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6EFD"/>
                </a:solidFill>
              </a:rPr>
              <a:t>Local Files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17736" y="2139696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58B"/>
                </a:solidFill>
              </a:rPr>
              <a:t>CSV / XLSX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2B57"/>
                </a:solidFill>
              </a:rPr>
              <a:t>Future-state roadmap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3493008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8680" y="3721608"/>
            <a:ext cx="384048" cy="384048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36941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Integrations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4400" y="42976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Policy and claims APIs.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Authentication and role-based access.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Secure cloud storage and audit logs.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07408" y="3493008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36008" y="3721608"/>
            <a:ext cx="384048" cy="384048"/>
          </a:xfrm>
          <a:prstGeom prst="ellipse">
            <a:avLst/>
          </a:prstGeom>
          <a:solidFill>
            <a:srgbClr val="15AABF"/>
          </a:solidFill>
          <a:ln w="12700">
            <a:solidFill>
              <a:srgbClr val="15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38928" y="36941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Intelligence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81728" y="42976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Historical-data ML risk model.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Optional LLM explanation layer.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LangChain or LangGraph orchestration.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74736" y="3493008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  <a:prstDash val="solid"/>
          </a:ln>
          <a:effectLst>
            <a:outerShdw blurRad="12700" dist="50800" dir="2700000" algn="bl" rotWithShape="0">
              <a:srgbClr val="AAB7C6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403336" y="3721608"/>
            <a:ext cx="384048" cy="384048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06256" y="36941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304A"/>
                </a:solidFill>
              </a:rPr>
              <a:t>Production Controls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49056" y="42976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Human approval.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Fairness and compliance review.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65758B"/>
                </a:solidFill>
              </a:rPr>
              <a:t>Monitoring, security and governance.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310</Words>
  <Application>Microsoft Office PowerPoint</Application>
  <PresentationFormat>Widescreen</PresentationFormat>
  <Paragraphs>78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UC717 Dynamic Deductible Optimizer</dc:title>
  <dc:subject>PptxGenJS Presentation</dc:subject>
  <dc:creator>Shripat Kajave, Nisha</dc:creator>
  <cp:lastModifiedBy>Shripat Kajave, Nisha</cp:lastModifiedBy>
  <cp:revision>2</cp:revision>
  <dcterms:created xsi:type="dcterms:W3CDTF">2026-09-18T07:53:07Z</dcterms:created>
  <dcterms:modified xsi:type="dcterms:W3CDTF">2026-09-18T08:51:17Z</dcterms:modified>
</cp:coreProperties>
</file>